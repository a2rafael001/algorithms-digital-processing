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80" d="100"/>
          <a:sy n="80" d="100"/>
        </p:scale>
        <p:origin x="72" y="149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slide" Target="slides/slide4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1447800"/>
            <a:ext cx="8825658" cy="3329581"/>
          </a:xfrm>
        </p:spPr>
        <p:txBody>
          <a:bodyPr anchor="b"/>
          <a:lstStyle>
            <a:lvl1pPr>
              <a:defRPr sz="7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ru-RU" smtClean="0"/>
              <a:t>Образец подзаголовка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742456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20434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2861733"/>
            <a:ext cx="8825657" cy="1915647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5" y="4777381"/>
            <a:ext cx="8825658" cy="860400"/>
          </a:xfrm>
        </p:spPr>
        <p:txBody>
          <a:bodyPr anchor="t"/>
          <a:lstStyle>
            <a:lvl1pPr marL="0" indent="0" algn="l">
              <a:buNone/>
              <a:defRPr sz="2000" cap="all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5594302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03312" y="2060575"/>
            <a:ext cx="4396339" cy="4195763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654493" y="2056092"/>
            <a:ext cx="4396341" cy="4200245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20238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3" y="1905000"/>
            <a:ext cx="43963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03312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654495" y="1905000"/>
            <a:ext cx="439633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654495" y="2514600"/>
            <a:ext cx="4396339" cy="3741738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765313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7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9352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159747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3" y="1447800"/>
            <a:ext cx="3401064" cy="14478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84616" y="1447800"/>
            <a:ext cx="5195997" cy="4572000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3" y="3129280"/>
            <a:ext cx="3401063" cy="2895599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7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536344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3907" y="1854192"/>
            <a:ext cx="5092906" cy="1574808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949546" y="1143000"/>
            <a:ext cx="3200400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5084979" cy="1371600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8673990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Панорамная фотография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6" y="4800587"/>
            <a:ext cx="882565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5" y="685800"/>
            <a:ext cx="8825658" cy="3640666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6" y="5367325"/>
            <a:ext cx="8825656" cy="493712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39705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Заголовок и подпис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1447800"/>
            <a:ext cx="8825659" cy="1981200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657600"/>
            <a:ext cx="8825659" cy="23622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04434752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Цитата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74801" y="1447800"/>
            <a:ext cx="7999315" cy="2323374"/>
          </a:xfrm>
        </p:spPr>
        <p:txBody>
          <a:bodyPr/>
          <a:lstStyle>
            <a:lvl1pPr>
              <a:defRPr sz="48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11" name="Text Placeholder 3"/>
          <p:cNvSpPr>
            <a:spLocks noGrp="1"/>
          </p:cNvSpPr>
          <p:nvPr>
            <p:ph type="body" sz="half" idx="14"/>
          </p:nvPr>
        </p:nvSpPr>
        <p:spPr>
          <a:xfrm>
            <a:off x="1930400" y="3771174"/>
            <a:ext cx="7279649" cy="342174"/>
          </a:xfrm>
        </p:spPr>
        <p:txBody>
          <a:bodyPr vert="horz" lIns="91440" tIns="45720" rIns="91440" bIns="45720" rtlCol="0"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bg2">
                    <a:lumMod val="40000"/>
                    <a:lumOff val="60000"/>
                  </a:schemeClr>
                </a:solidFill>
                <a:latin typeface="+mj-lt"/>
                <a:ea typeface="+mj-ea"/>
                <a:cs typeface="+mj-cs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marL="0" lvl="0" indent="0">
              <a:buNone/>
            </a:pPr>
            <a:r>
              <a:rPr lang="ru-RU" smtClean="0"/>
              <a:t>Образец текста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4350657"/>
            <a:ext cx="8825659" cy="16764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  <p:sp>
        <p:nvSpPr>
          <p:cNvPr id="12" name="TextBox 11"/>
          <p:cNvSpPr txBox="1"/>
          <p:nvPr/>
        </p:nvSpPr>
        <p:spPr>
          <a:xfrm>
            <a:off x="898295" y="971253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“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330490" y="2613787"/>
            <a:ext cx="801912" cy="196977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 algn="r">
              <a:defRPr sz="12200" b="0" i="0">
                <a:solidFill>
                  <a:schemeClr val="bg2">
                    <a:lumMod val="40000"/>
                    <a:lumOff val="60000"/>
                  </a:schemeClr>
                </a:solidFill>
                <a:latin typeface="Arial"/>
                <a:ea typeface="+mj-ea"/>
                <a:cs typeface="+mj-cs"/>
              </a:defRPr>
            </a:lvl1pPr>
          </a:lstStyle>
          <a:p>
            <a:pPr lvl="0"/>
            <a:r>
              <a:rPr lang="en-US" dirty="0"/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95689049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Карточка имен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3124201"/>
            <a:ext cx="8825660" cy="1653180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777381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6977374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Три колонк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32947" y="1981200"/>
            <a:ext cx="2946866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652463" y="2667000"/>
            <a:ext cx="2927350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3659" y="1981200"/>
            <a:ext cx="2936241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3873106" y="2667000"/>
            <a:ext cx="2946794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1981200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124700" y="2667000"/>
            <a:ext cx="2932113" cy="3589338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1384848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Столбец с тремя рисункам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 sz="4200"/>
            </a:lvl1pPr>
          </a:lstStyle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52463" y="4250949"/>
            <a:ext cx="294005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2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652463" y="2209800"/>
            <a:ext cx="2940050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652463" y="4827211"/>
            <a:ext cx="2940050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3889375" y="4250949"/>
            <a:ext cx="293052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0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3889374" y="2209800"/>
            <a:ext cx="2930525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3888022" y="4827210"/>
            <a:ext cx="2934406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124700" y="4250949"/>
            <a:ext cx="293211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bg2">
                    <a:lumMod val="40000"/>
                    <a:lumOff val="6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31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7124699" y="2209800"/>
            <a:ext cx="2932113" cy="1524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ru-RU" smtClean="0"/>
              <a:t>Вставка рисунка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124575" y="4827208"/>
            <a:ext cx="2935997" cy="659189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cxnSp>
        <p:nvCxnSpPr>
          <p:cNvPr id="19" name="Straight Connector 18"/>
          <p:cNvCxnSpPr/>
          <p:nvPr/>
        </p:nvCxnSpPr>
        <p:spPr>
          <a:xfrm>
            <a:off x="3726142" y="2133600"/>
            <a:ext cx="0" cy="3962400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0" name="Straight Connector 19"/>
          <p:cNvCxnSpPr/>
          <p:nvPr/>
        </p:nvCxnSpPr>
        <p:spPr>
          <a:xfrm>
            <a:off x="6962227" y="2133600"/>
            <a:ext cx="0" cy="3966882"/>
          </a:xfrm>
          <a:prstGeom prst="line">
            <a:avLst/>
          </a:prstGeom>
          <a:ln w="12700" cmpd="sng">
            <a:solidFill>
              <a:schemeClr val="bg2">
                <a:lumMod val="40000"/>
                <a:lumOff val="60000"/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4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2595549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 anchorCtr="0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8555104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304212" y="430213"/>
            <a:ext cx="1752601" cy="5826125"/>
          </a:xfrm>
        </p:spPr>
        <p:txBody>
          <a:bodyPr vert="eaVert" anchor="b" anchorCtr="0"/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52463" y="887414"/>
            <a:ext cx="7423149" cy="5368924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15741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21" Type="http://schemas.openxmlformats.org/officeDocument/2006/relationships/image" Target="../media/image4.png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20" Type="http://schemas.openxmlformats.org/officeDocument/2006/relationships/image" Target="../media/image3.pn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2.pn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Relationship Id="rId22" Type="http://schemas.openxmlformats.org/officeDocument/2006/relationships/image" Target="../media/image5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7"/>
          <p:cNvPicPr>
            <a:picLocks noChangeAspect="1"/>
          </p:cNvPicPr>
          <p:nvPr/>
        </p:nvPicPr>
        <p:blipFill rotWithShape="1">
          <a:blip r:embed="rId1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613"/>
          <a:stretch/>
        </p:blipFill>
        <p:spPr>
          <a:xfrm>
            <a:off x="0" y="2669685"/>
            <a:ext cx="4037012" cy="4188315"/>
          </a:xfrm>
          <a:prstGeom prst="rect">
            <a:avLst/>
          </a:prstGeom>
        </p:spPr>
      </p:pic>
      <p:pic>
        <p:nvPicPr>
          <p:cNvPr id="7" name="Picture 6"/>
          <p:cNvPicPr>
            <a:picLocks noChangeAspect="1"/>
          </p:cNvPicPr>
          <p:nvPr/>
        </p:nvPicPr>
        <p:blipFill rotWithShape="1">
          <a:blip r:embed="rId2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5640"/>
          <a:stretch/>
        </p:blipFill>
        <p:spPr>
          <a:xfrm>
            <a:off x="0" y="2892347"/>
            <a:ext cx="1522412" cy="2365453"/>
          </a:xfrm>
          <a:prstGeom prst="rect">
            <a:avLst/>
          </a:prstGeom>
        </p:spPr>
      </p:pic>
      <p:sp>
        <p:nvSpPr>
          <p:cNvPr id="16" name="Oval 15"/>
          <p:cNvSpPr/>
          <p:nvPr/>
        </p:nvSpPr>
        <p:spPr>
          <a:xfrm>
            <a:off x="8609012" y="1676400"/>
            <a:ext cx="2819400" cy="2819400"/>
          </a:xfrm>
          <a:prstGeom prst="ellipse">
            <a:avLst/>
          </a:prstGeom>
          <a:gradFill flip="none" rotWithShape="1">
            <a:gsLst>
              <a:gs pos="0">
                <a:schemeClr val="bg2">
                  <a:lumMod val="60000"/>
                  <a:lumOff val="40000"/>
                  <a:alpha val="7000"/>
                </a:schemeClr>
              </a:gs>
              <a:gs pos="69000">
                <a:schemeClr val="bg2">
                  <a:lumMod val="60000"/>
                  <a:lumOff val="40000"/>
                  <a:alpha val="0"/>
                </a:schemeClr>
              </a:gs>
              <a:gs pos="36000">
                <a:schemeClr val="bg2">
                  <a:lumMod val="60000"/>
                  <a:lumOff val="40000"/>
                  <a:alpha val="6000"/>
                </a:schemeClr>
              </a:gs>
            </a:gsLst>
            <a:path path="circle">
              <a:fillToRect l="50000" t="50000" r="50000" b="50000"/>
            </a:path>
            <a:tileRect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pic>
        <p:nvPicPr>
          <p:cNvPr id="9" name="Picture 8"/>
          <p:cNvPicPr>
            <a:picLocks noChangeAspect="1"/>
          </p:cNvPicPr>
          <p:nvPr/>
        </p:nvPicPr>
        <p:blipFill rotWithShape="1">
          <a:blip r:embed="rId2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28813"/>
          <a:stretch/>
        </p:blipFill>
        <p:spPr>
          <a:xfrm>
            <a:off x="7999412" y="0"/>
            <a:ext cx="1603387" cy="1141407"/>
          </a:xfrm>
          <a:prstGeom prst="rect">
            <a:avLst/>
          </a:prstGeom>
        </p:spPr>
      </p:pic>
      <p:pic>
        <p:nvPicPr>
          <p:cNvPr id="10" name="Picture 9"/>
          <p:cNvPicPr>
            <a:picLocks noChangeAspect="1"/>
          </p:cNvPicPr>
          <p:nvPr/>
        </p:nvPicPr>
        <p:blipFill rotWithShape="1">
          <a:blip r:embed="rId2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b="23320"/>
          <a:stretch/>
        </p:blipFill>
        <p:spPr>
          <a:xfrm>
            <a:off x="8605878" y="6096000"/>
            <a:ext cx="993734" cy="762000"/>
          </a:xfrm>
          <a:prstGeom prst="rect">
            <a:avLst/>
          </a:prstGeom>
        </p:spPr>
      </p:pic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46111" y="452718"/>
            <a:ext cx="9404723" cy="1400530"/>
          </a:xfrm>
          <a:prstGeom prst="rect">
            <a:avLst/>
          </a:prstGeom>
        </p:spPr>
        <p:txBody>
          <a:bodyPr vert="horz" lIns="91440" tIns="45720" rIns="91440" bIns="45720" rtlCol="0" anchor="t">
            <a:noAutofit/>
          </a:bodyPr>
          <a:lstStyle/>
          <a:p>
            <a:r>
              <a:rPr lang="ru-RU" smtClean="0"/>
              <a:t>Образец заголовка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03312" y="2052918"/>
            <a:ext cx="8946541" cy="419548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 rot="5400000">
            <a:off x="10155639" y="1790701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t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fld id="{686695D5-787A-48AB-B7C2-E27EA0103748}" type="datetimeFigureOut">
              <a:rPr lang="en-US" smtClean="0"/>
              <a:t>11/15/2025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 rot="5400000">
            <a:off x="8951573" y="3225297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100" b="0" i="0">
                <a:solidFill>
                  <a:schemeClr val="tx1">
                    <a:tint val="75000"/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EFDB2DD-F2EA-46AD-89B1-3576000F655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643392"/>
      </p:ext>
    </p:extLst>
  </p:cSld>
  <p:clrMap bg1="dk1" tx1="lt1" bg2="dk2" tx2="lt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4200" b="0" i="0" kern="1200">
          <a:solidFill>
            <a:schemeClr val="tx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2000" b="0" i="0" kern="1200">
          <a:solidFill>
            <a:schemeClr val="tx1"/>
          </a:solidFill>
          <a:latin typeface="+mj-lt"/>
          <a:ea typeface="+mj-ea"/>
          <a:cs typeface="+mj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800" b="0" i="0" kern="1200">
          <a:solidFill>
            <a:schemeClr val="tx1"/>
          </a:solidFill>
          <a:latin typeface="+mj-lt"/>
          <a:ea typeface="+mj-ea"/>
          <a:cs typeface="+mj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600" b="0" i="0" kern="1200">
          <a:solidFill>
            <a:schemeClr val="tx1"/>
          </a:solidFill>
          <a:latin typeface="+mj-lt"/>
          <a:ea typeface="+mj-ea"/>
          <a:cs typeface="+mj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5pPr>
      <a:lvl6pPr marL="2506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bg2">
            <a:lumMod val="40000"/>
            <a:lumOff val="60000"/>
          </a:schemeClr>
        </a:buClr>
        <a:buSzPct val="80000"/>
        <a:buFont typeface="Wingdings 3" charset="2"/>
        <a:buChar char=""/>
        <a:defRPr sz="1400" b="0" i="0" kern="1200">
          <a:solidFill>
            <a:schemeClr val="tx1"/>
          </a:solidFill>
          <a:latin typeface="+mj-lt"/>
          <a:ea typeface="+mj-ea"/>
          <a:cs typeface="+mj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047750" y="144823"/>
            <a:ext cx="9144000" cy="2387600"/>
          </a:xfrm>
        </p:spPr>
        <p:txBody>
          <a:bodyPr/>
          <a:lstStyle/>
          <a:p>
            <a:r>
              <a:rPr lang="ru-RU" dirty="0" smtClean="0"/>
              <a:t>Слайд 1 — Задача и данные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71525" y="2944813"/>
            <a:ext cx="9144000" cy="1655762"/>
          </a:xfrm>
        </p:spPr>
        <p:txBody>
          <a:bodyPr/>
          <a:lstStyle/>
          <a:p>
            <a:r>
              <a:rPr lang="ru-RU" b="1" dirty="0" smtClean="0"/>
              <a:t>Тема:</a:t>
            </a:r>
            <a:r>
              <a:rPr lang="ru-RU" dirty="0" smtClean="0"/>
              <a:t> Трекинг объекта в видео</a:t>
            </a:r>
            <a:endParaRPr lang="en-US" dirty="0" smtClean="0"/>
          </a:p>
          <a:p>
            <a:endParaRPr lang="en-US" dirty="0"/>
          </a:p>
        </p:txBody>
      </p:sp>
      <p:sp>
        <p:nvSpPr>
          <p:cNvPr id="5" name="Rectangle 2"/>
          <p:cNvSpPr>
            <a:spLocks noChangeArrowheads="1"/>
          </p:cNvSpPr>
          <p:nvPr/>
        </p:nvSpPr>
        <p:spPr bwMode="auto">
          <a:xfrm>
            <a:off x="619125" y="3850407"/>
            <a:ext cx="10515600" cy="2308324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Данные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5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роликов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v1…v5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(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разные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сцены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движение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/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масштаб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)</a:t>
            </a:r>
            <a: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/>
            </a:r>
            <a:br>
              <a:rPr kumimoji="0" lang="en-US" altLang="en-US" sz="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Методы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CSRT, KCF, MOSSE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OpenCV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), NCC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норм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кросс-корреляция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свой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Процедура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endParaRPr kumimoji="0" lang="en-US" altLang="en-US" sz="18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вручную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выбрал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ROI в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первом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кадре</a:t>
            </a:r>
            <a:r>
              <a:rPr kumimoji="0" lang="en-US" altLang="en-US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lang="en-US" altLang="en-US" dirty="0" err="1">
                <a:latin typeface="Arial" panose="020B0604020202020204" pitchFamily="34" charset="0"/>
              </a:rPr>
              <a:t>инициализировал</a:t>
            </a:r>
            <a:r>
              <a:rPr lang="en-US" altLang="en-US" dirty="0">
                <a:latin typeface="Arial" panose="020B0604020202020204" pitchFamily="34" charset="0"/>
              </a:rPr>
              <a:t> </a:t>
            </a:r>
            <a:r>
              <a:rPr lang="en-US" altLang="en-US" dirty="0" err="1" smtClean="0">
                <a:latin typeface="Arial" panose="020B0604020202020204" pitchFamily="34" charset="0"/>
              </a:rPr>
              <a:t>трекер</a:t>
            </a:r>
            <a:r>
              <a:rPr lang="en-US" altLang="en-US" dirty="0" smtClean="0">
                <a:latin typeface="Arial" panose="020B0604020202020204" pitchFamily="34" charset="0"/>
              </a:rPr>
              <a:t>,</a:t>
            </a: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buFontTx/>
              <a:buAutoNum type="arabicPeriod"/>
            </a:pP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прогнал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ролику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сохранил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визуализацию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+ CSV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лог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Программная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среда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Python 3.13,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OpenCV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4.12, Windows 11.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1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Артефакты</a:t>
            </a:r>
            <a:r>
              <a:rPr kumimoji="0" lang="en-US" altLang="en-US" sz="1800" b="0" i="1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out/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видео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с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боксом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,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logs/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—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метрики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по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кадрам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</a:endParaRPr>
          </a:p>
        </p:txBody>
      </p:sp>
    </p:spTree>
    <p:extLst>
      <p:ext uri="{BB962C8B-B14F-4D97-AF65-F5344CB8AC3E}">
        <p14:creationId xmlns:p14="http://schemas.microsoft.com/office/powerpoint/2010/main" val="965635374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97730" y="819150"/>
            <a:ext cx="10446495" cy="1457325"/>
          </a:xfrm>
        </p:spPr>
        <p:txBody>
          <a:bodyPr/>
          <a:lstStyle/>
          <a:p>
            <a:r>
              <a:rPr lang="ru-RU" dirty="0"/>
              <a:t>Слайд 2 — Методы </a:t>
            </a:r>
            <a:endParaRPr lang="en-US" dirty="0"/>
          </a:p>
        </p:txBody>
      </p:sp>
      <p:sp>
        <p:nvSpPr>
          <p:cNvPr id="4" name="Rectangle 1"/>
          <p:cNvSpPr>
            <a:spLocks noGrp="1" noChangeArrowheads="1"/>
          </p:cNvSpPr>
          <p:nvPr>
            <p:ph type="subTitle" idx="1"/>
          </p:nvPr>
        </p:nvSpPr>
        <p:spPr bwMode="auto">
          <a:xfrm>
            <a:off x="431054" y="3967356"/>
            <a:ext cx="11065621" cy="203132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CSRT: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точный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устойчив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к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частичным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перекрытиям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но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медленнее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KCF: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быстрее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CSRT,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хуже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при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сильной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деформации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масштабах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MOSSE: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очень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быстрый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корреляционный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фильтр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,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иногда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«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плывёт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».</a:t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NCC (</a:t>
            </a: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шаблон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простая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нормированная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кросс-корреляция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с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мультишкальным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окном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поиска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(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порог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/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масштаб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задаются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параметрами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).</a:t>
            </a: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en-US" altLang="en-US" sz="1800" b="1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Пайплайн</a:t>
            </a:r>
            <a:r>
              <a:rPr kumimoji="0" lang="en-US" altLang="en-US" sz="1800" b="1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: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/>
            </a:r>
            <a:b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</a:b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ROI →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init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(tracker) →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для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каждого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8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кадра</a:t>
            </a:r>
            <a:r>
              <a:rPr kumimoji="0" lang="en-US" altLang="en-US" sz="18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update()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рисую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bbox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→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</a:rPr>
              <a:t>логирую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en-US" altLang="en-US" sz="1400" b="0" i="0" u="none" strike="noStrike" cap="none" normalizeH="0" baseline="0" dirty="0" err="1" smtClean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ok,x,y,w,h,dt_ms</a:t>
            </a:r>
            <a:r>
              <a:rPr kumimoji="0" lang="en-US" altLang="en-US" sz="1400" b="0" i="0" u="none" strike="noStrike" cap="none" normalizeH="0" baseline="0" dirty="0" smtClean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endParaRPr kumimoji="0" lang="en-US" altLang="en-US" sz="1400" b="0" i="0" u="none" strike="noStrike" cap="none" normalizeH="0" baseline="0" dirty="0" smtClean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252155154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327026" y="-76200"/>
            <a:ext cx="10007599" cy="447675"/>
          </a:xfrm>
        </p:spPr>
        <p:txBody>
          <a:bodyPr/>
          <a:lstStyle/>
          <a:p>
            <a:r>
              <a:rPr lang="ru-RU" dirty="0"/>
              <a:t>Слайд 3 — Результаты (сводка по 5 видео)</a:t>
            </a:r>
            <a:endParaRPr lang="en-US" dirty="0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1154953" y="4788807"/>
            <a:ext cx="8825659" cy="1676400"/>
          </a:xfrm>
        </p:spPr>
        <p:txBody>
          <a:bodyPr>
            <a:normAutofit fontScale="77500" lnSpcReduction="20000"/>
          </a:bodyPr>
          <a:lstStyle/>
          <a:p>
            <a:r>
              <a:rPr lang="ru-RU" b="1" dirty="0"/>
              <a:t>Интерпретация:</a:t>
            </a:r>
            <a:endParaRPr lang="ru-RU" dirty="0"/>
          </a:p>
          <a:p>
            <a:r>
              <a:rPr lang="ru-RU" dirty="0"/>
              <a:t>По точности безусловный лидер </a:t>
            </a:r>
            <a:r>
              <a:rPr lang="ru-RU" b="1" dirty="0"/>
              <a:t>CSRT</a:t>
            </a:r>
            <a:r>
              <a:rPr lang="ru-RU" dirty="0"/>
              <a:t> (но медленный).</a:t>
            </a:r>
          </a:p>
          <a:p>
            <a:r>
              <a:rPr lang="ru-RU" b="1" dirty="0"/>
              <a:t>MOSSE</a:t>
            </a:r>
            <a:r>
              <a:rPr lang="ru-RU" dirty="0"/>
              <a:t> — практически «реал-тайм» с очень хорошей точностью на наших сценах.</a:t>
            </a:r>
          </a:p>
          <a:p>
            <a:r>
              <a:rPr lang="ru-RU" b="1" dirty="0"/>
              <a:t>KCF</a:t>
            </a:r>
            <a:r>
              <a:rPr lang="ru-RU" dirty="0"/>
              <a:t> — середнячок: быстрее CSRT, но заметно больше потерь.</a:t>
            </a:r>
          </a:p>
          <a:p>
            <a:r>
              <a:rPr lang="ru-RU" b="1" dirty="0"/>
              <a:t>NCC</a:t>
            </a:r>
            <a:r>
              <a:rPr lang="ru-RU" dirty="0"/>
              <a:t> годится как простая базовая модель/</a:t>
            </a:r>
            <a:r>
              <a:rPr lang="ru-RU" dirty="0" err="1"/>
              <a:t>бенчмарк</a:t>
            </a:r>
            <a:r>
              <a:rPr lang="ru-RU" dirty="0"/>
              <a:t>; сильно зависит от фона/масштаба</a:t>
            </a:r>
          </a:p>
        </p:txBody>
      </p:sp>
      <p:graphicFrame>
        <p:nvGraphicFramePr>
          <p:cNvPr id="5" name="Таблица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418153191"/>
              </p:ext>
            </p:extLst>
          </p:nvPr>
        </p:nvGraphicFramePr>
        <p:xfrm>
          <a:off x="1610145" y="1463951"/>
          <a:ext cx="7915276" cy="3200400"/>
        </p:xfrm>
        <a:graphic>
          <a:graphicData uri="http://schemas.openxmlformats.org/drawingml/2006/table">
            <a:tbl>
              <a:tblPr/>
              <a:tblGrid>
                <a:gridCol w="1978819">
                  <a:extLst>
                    <a:ext uri="{9D8B030D-6E8A-4147-A177-3AD203B41FA5}">
                      <a16:colId xmlns:a16="http://schemas.microsoft.com/office/drawing/2014/main" val="3987493079"/>
                    </a:ext>
                  </a:extLst>
                </a:gridCol>
                <a:gridCol w="1978819">
                  <a:extLst>
                    <a:ext uri="{9D8B030D-6E8A-4147-A177-3AD203B41FA5}">
                      <a16:colId xmlns:a16="http://schemas.microsoft.com/office/drawing/2014/main" val="858761838"/>
                    </a:ext>
                  </a:extLst>
                </a:gridCol>
                <a:gridCol w="1978819">
                  <a:extLst>
                    <a:ext uri="{9D8B030D-6E8A-4147-A177-3AD203B41FA5}">
                      <a16:colId xmlns:a16="http://schemas.microsoft.com/office/drawing/2014/main" val="2411594993"/>
                    </a:ext>
                  </a:extLst>
                </a:gridCol>
                <a:gridCol w="1978819">
                  <a:extLst>
                    <a:ext uri="{9D8B030D-6E8A-4147-A177-3AD203B41FA5}">
                      <a16:colId xmlns:a16="http://schemas.microsoft.com/office/drawing/2014/main" val="3888862247"/>
                    </a:ext>
                  </a:extLst>
                </a:gridCol>
              </a:tblGrid>
              <a:tr h="400295">
                <a:tc>
                  <a:txBody>
                    <a:bodyPr/>
                    <a:lstStyle/>
                    <a:p>
                      <a:r>
                        <a:rPr lang="ru-RU" sz="1800"/>
                        <a:t>Метод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Точность (</a:t>
                      </a:r>
                      <a:r>
                        <a:rPr lang="en-US" sz="1800"/>
                        <a:t>ok/total)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Средний </a:t>
                      </a:r>
                      <a:r>
                        <a:rPr lang="en-US" sz="1800"/>
                        <a:t>FPS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ru-RU" sz="1800"/>
                        <a:t>Срывы (</a:t>
                      </a:r>
                      <a:r>
                        <a:rPr lang="en-US" sz="1800"/>
                        <a:t>fails)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2579608799"/>
                  </a:ext>
                </a:extLst>
              </a:tr>
              <a:tr h="331657">
                <a:tc>
                  <a:txBody>
                    <a:bodyPr/>
                    <a:lstStyle/>
                    <a:p>
                      <a:r>
                        <a:rPr lang="en-US" sz="1800" b="1"/>
                        <a:t>CSRT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100%</a:t>
                      </a:r>
                      <a:r>
                        <a:rPr lang="en-US" sz="1800"/>
                        <a:t> (4037/4037)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6.6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0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655234337"/>
                  </a:ext>
                </a:extLst>
              </a:tr>
              <a:tr h="331657">
                <a:tc>
                  <a:txBody>
                    <a:bodyPr/>
                    <a:lstStyle/>
                    <a:p>
                      <a:r>
                        <a:rPr lang="en-US" sz="1800" b="1"/>
                        <a:t>MOSSE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98.0%</a:t>
                      </a:r>
                      <a:r>
                        <a:rPr lang="en-US" sz="1800"/>
                        <a:t> (3958/4037)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b="1"/>
                        <a:t>210.8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26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4173033631"/>
                  </a:ext>
                </a:extLst>
              </a:tr>
              <a:tr h="331657">
                <a:tc>
                  <a:txBody>
                    <a:bodyPr/>
                    <a:lstStyle/>
                    <a:p>
                      <a:r>
                        <a:rPr lang="en-US" sz="1800" b="1" dirty="0"/>
                        <a:t>KCF</a:t>
                      </a:r>
                      <a:endParaRPr lang="en-US" sz="1800" dirty="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75.3% (3039/4037)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62.5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78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510016890"/>
                  </a:ext>
                </a:extLst>
              </a:tr>
              <a:tr h="331657">
                <a:tc>
                  <a:txBody>
                    <a:bodyPr/>
                    <a:lstStyle/>
                    <a:p>
                      <a:r>
                        <a:rPr lang="en-US" sz="1800" b="1"/>
                        <a:t>NCC</a:t>
                      </a:r>
                      <a:endParaRPr lang="en-US" sz="1800"/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17.2% (695/4037)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/>
                        <a:t>158.3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tc>
                  <a:txBody>
                    <a:bodyPr/>
                    <a:lstStyle/>
                    <a:p>
                      <a:r>
                        <a:rPr lang="en-US" sz="1800" dirty="0"/>
                        <a:t>9</a:t>
                      </a:r>
                    </a:p>
                  </a:txBody>
                  <a:tcPr anchor="ctr">
                    <a:lnL>
                      <a:noFill/>
                    </a:lnL>
                    <a:lnR>
                      <a:noFill/>
                    </a:lnR>
                    <a:lnT>
                      <a:noFill/>
                    </a:lnT>
                    <a:lnB>
                      <a:noFill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3778541893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92961747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364379" y="0"/>
            <a:ext cx="9894045" cy="1714500"/>
          </a:xfrm>
        </p:spPr>
        <p:txBody>
          <a:bodyPr/>
          <a:lstStyle/>
          <a:p>
            <a:r>
              <a:rPr lang="ru-RU" dirty="0"/>
              <a:t>Слайд 4 — </a:t>
            </a:r>
            <a:r>
              <a:rPr lang="ru-RU" dirty="0" smtClean="0"/>
              <a:t>Выводы </a:t>
            </a:r>
            <a:endParaRPr lang="en-US" dirty="0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154955" y="3076575"/>
            <a:ext cx="8808195" cy="2562225"/>
          </a:xfrm>
        </p:spPr>
        <p:txBody>
          <a:bodyPr>
            <a:normAutofit fontScale="92500" lnSpcReduction="10000"/>
          </a:bodyPr>
          <a:lstStyle/>
          <a:p>
            <a:r>
              <a:rPr lang="ru-RU" b="1" dirty="0"/>
              <a:t>Выводы:</a:t>
            </a:r>
            <a:endParaRPr lang="ru-RU" dirty="0"/>
          </a:p>
          <a:p>
            <a:r>
              <a:rPr lang="ru-RU" dirty="0"/>
              <a:t>Для надёжности на этих данных → </a:t>
            </a:r>
            <a:r>
              <a:rPr lang="ru-RU" b="1" dirty="0"/>
              <a:t>CSRT</a:t>
            </a:r>
            <a:r>
              <a:rPr lang="ru-RU" dirty="0"/>
              <a:t>.</a:t>
            </a:r>
          </a:p>
          <a:p>
            <a:r>
              <a:rPr lang="ru-RU" dirty="0"/>
              <a:t>Для быстрых систем/превью → </a:t>
            </a:r>
            <a:r>
              <a:rPr lang="ru-RU" b="1" dirty="0"/>
              <a:t>MOSSE</a:t>
            </a:r>
            <a:r>
              <a:rPr lang="ru-RU" dirty="0"/>
              <a:t> (лучший компромисс скорость/качество).</a:t>
            </a:r>
          </a:p>
          <a:p>
            <a:r>
              <a:rPr lang="ru-RU" b="1" dirty="0"/>
              <a:t>KCF</a:t>
            </a:r>
            <a:r>
              <a:rPr lang="ru-RU" dirty="0"/>
              <a:t> может подойти на спокойных сценах, но не универсален.</a:t>
            </a:r>
          </a:p>
          <a:p>
            <a:r>
              <a:rPr lang="ru-RU" b="1" dirty="0"/>
              <a:t>NCC</a:t>
            </a:r>
            <a:r>
              <a:rPr lang="ru-RU" dirty="0"/>
              <a:t> — учебная база: ясно показывает ограничения шаблонного </a:t>
            </a:r>
            <a:r>
              <a:rPr lang="ru-RU" dirty="0" smtClean="0"/>
              <a:t>сопоставления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927574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Ион">
  <a:themeElements>
    <a:clrScheme name="Ион">
      <a:dk1>
        <a:sysClr val="windowText" lastClr="000000"/>
      </a:dk1>
      <a:lt1>
        <a:sysClr val="window" lastClr="FFFFFF"/>
      </a:lt1>
      <a:dk2>
        <a:srgbClr val="1E5155"/>
      </a:dk2>
      <a:lt2>
        <a:srgbClr val="EBEBEB"/>
      </a:lt2>
      <a:accent1>
        <a:srgbClr val="B01513"/>
      </a:accent1>
      <a:accent2>
        <a:srgbClr val="EA6312"/>
      </a:accent2>
      <a:accent3>
        <a:srgbClr val="E6B729"/>
      </a:accent3>
      <a:accent4>
        <a:srgbClr val="6AAC90"/>
      </a:accent4>
      <a:accent5>
        <a:srgbClr val="54849A"/>
      </a:accent5>
      <a:accent6>
        <a:srgbClr val="9E5E9B"/>
      </a:accent6>
      <a:hlink>
        <a:srgbClr val="58C1BA"/>
      </a:hlink>
      <a:folHlink>
        <a:srgbClr val="9DFFCB"/>
      </a:folHlink>
    </a:clrScheme>
    <a:fontScheme name="Ион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Ион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7000"/>
                <a:hueMod val="88000"/>
                <a:satMod val="130000"/>
                <a:lumMod val="124000"/>
              </a:schemeClr>
            </a:gs>
            <a:gs pos="100000">
              <a:schemeClr val="phClr">
                <a:tint val="96000"/>
                <a:shade val="88000"/>
                <a:hueMod val="108000"/>
                <a:satMod val="164000"/>
                <a:lumMod val="7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108000"/>
                <a:satMod val="164000"/>
                <a:lumMod val="74000"/>
              </a:schemeClr>
              <a:schemeClr val="phClr">
                <a:tint val="96000"/>
                <a:hueMod val="88000"/>
                <a:satMod val="140000"/>
                <a:lumMod val="13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" id="{B8441ADB-2E43-4AF7-B97A-BD870242C6A8}" vid="{292E63A9-BB86-4E3D-B92A-7223C6510D2E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</Template>
  <TotalTime>17</TotalTime>
  <Words>183</Words>
  <Application>Microsoft Office PowerPoint</Application>
  <PresentationFormat>Широкоэкранный</PresentationFormat>
  <Paragraphs>42</Paragraphs>
  <Slides>4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4</vt:i4>
      </vt:variant>
    </vt:vector>
  </HeadingPairs>
  <TitlesOfParts>
    <vt:vector size="9" baseType="lpstr">
      <vt:lpstr>Arial</vt:lpstr>
      <vt:lpstr>Arial Unicode MS</vt:lpstr>
      <vt:lpstr>Century Gothic</vt:lpstr>
      <vt:lpstr>Wingdings 3</vt:lpstr>
      <vt:lpstr>Ион</vt:lpstr>
      <vt:lpstr>Слайд 1 — Задача и данные</vt:lpstr>
      <vt:lpstr>Слайд 2 — Методы </vt:lpstr>
      <vt:lpstr>Слайд 3 — Результаты (сводка по 5 видео)</vt:lpstr>
      <vt:lpstr>Слайд 4 — Выводы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Слайд 1 — Задача и данные</dc:title>
  <dc:creator>Рафаэль Арутюнян</dc:creator>
  <cp:lastModifiedBy>Рафаэль Арутюнян</cp:lastModifiedBy>
  <cp:revision>2</cp:revision>
  <dcterms:created xsi:type="dcterms:W3CDTF">2025-11-15T06:57:38Z</dcterms:created>
  <dcterms:modified xsi:type="dcterms:W3CDTF">2025-11-15T07:14:54Z</dcterms:modified>
</cp:coreProperties>
</file>